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4" r:id="rId6"/>
    <p:sldId id="279" r:id="rId7"/>
    <p:sldId id="276" r:id="rId8"/>
    <p:sldId id="280" r:id="rId9"/>
    <p:sldId id="278" r:id="rId10"/>
    <p:sldId id="271" r:id="rId11"/>
    <p:sldId id="283" r:id="rId12"/>
    <p:sldId id="287" r:id="rId13"/>
    <p:sldId id="286" r:id="rId14"/>
    <p:sldId id="285" r:id="rId15"/>
    <p:sldId id="284" r:id="rId16"/>
    <p:sldId id="268" r:id="rId17"/>
    <p:sldId id="269" r:id="rId18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4" autoAdjust="0"/>
    <p:restoredTop sz="94660"/>
  </p:normalViewPr>
  <p:slideViewPr>
    <p:cSldViewPr>
      <p:cViewPr varScale="1">
        <p:scale>
          <a:sx n="62" d="100"/>
          <a:sy n="62" d="100"/>
        </p:scale>
        <p:origin x="1464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pPr/>
              <a:t>28-10-2026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106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105156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233464"/>
                </a:solidFill>
                <a:latin typeface="Aptos"/>
              </a:defRPr>
            </a:pPr>
            <a:r>
              <a:rPr sz="2800" dirty="0">
                <a:latin typeface="Times New Roman" pitchFamily="18" charset="0"/>
                <a:cs typeface="Times New Roman" pitchFamily="18" charset="0"/>
              </a:rPr>
              <a:t>Data Analysis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508760"/>
            <a:ext cx="73152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300" b="1">
                <a:solidFill>
                  <a:srgbClr val="C25B30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Cornerstone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8778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3000" b="1">
                <a:solidFill>
                  <a:srgbClr val="233464"/>
                </a:solidFill>
                <a:latin typeface="Aptos"/>
              </a:defRPr>
            </a:pPr>
            <a:r>
              <a:rPr sz="3200" dirty="0">
                <a:latin typeface="Times New Roman" pitchFamily="18" charset="0"/>
                <a:cs typeface="Times New Roman" pitchFamily="18" charset="0"/>
              </a:rPr>
              <a:t>Analysis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of Anemia among Indian Women</a:t>
            </a:r>
            <a:endParaRPr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" y="3657600"/>
            <a:ext cx="7955279" cy="2387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Presented by</a:t>
            </a:r>
            <a:endParaRPr lang="en-US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M.N.B.Sasirekha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(25B11CS528)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P.N.Maheswari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(25B11CS691)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M.Yaswanth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(25B11CS527)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M.Pavan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(25B11CS535)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sz="1600" b="1" dirty="0">
                <a:latin typeface="Times New Roman" pitchFamily="18" charset="0"/>
                <a:cs typeface="Times New Roman" pitchFamily="18" charset="0"/>
              </a:rPr>
              <a:t>Guide: Mr. </a:t>
            </a:r>
            <a:r>
              <a:rPr sz="1600" b="1" dirty="0" err="1">
                <a:latin typeface="Times New Roman" pitchFamily="18" charset="0"/>
                <a:cs typeface="Times New Roman" pitchFamily="18" charset="0"/>
              </a:rPr>
              <a:t>K. </a:t>
            </a:r>
            <a:r>
              <a:rPr sz="1600" b="1" dirty="0">
                <a:latin typeface="Times New Roman" pitchFamily="18" charset="0"/>
                <a:cs typeface="Times New Roman" pitchFamily="18" charset="0"/>
              </a:rPr>
              <a:t>Ashok Teja, Assistant </a:t>
            </a:r>
            <a:r>
              <a:rPr sz="1600" b="1" dirty="0" err="1">
                <a:latin typeface="Times New Roman" pitchFamily="18" charset="0"/>
                <a:cs typeface="Times New Roman" pitchFamily="18" charset="0"/>
              </a:rPr>
              <a:t>Professor,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M.Tech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sz="1600" b="1" dirty="0">
                <a:latin typeface="Times New Roman" pitchFamily="18" charset="0"/>
                <a:cs typeface="Times New Roman" pitchFamily="18" charset="0"/>
              </a:rPr>
              <a:t> CSE Dept.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446520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233464"/>
                </a:solidFill>
                <a:latin typeface="Aptos"/>
              </a:defRPr>
            </a:pPr>
            <a:r>
              <a:rPr sz="2000" dirty="0"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545080" y="269414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19200" y="1231981"/>
            <a:ext cx="713232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Problem Understanding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Introduction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Current Approach &amp; Limitations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Proposed Approach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Dataset Description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Requirements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Methodology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Data Analysis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Data Visualization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Machine Learning Model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Interactive Dashboard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Key Insights &amp; Analysis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Implementation Workflow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67000" y="53695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0" name="object 3">
            <a:extLst>
              <a:ext uri="{FF2B5EF4-FFF2-40B4-BE49-F238E27FC236}">
                <a16:creationId xmlns:a16="http://schemas.microsoft.com/office/drawing/2014/main" id="{1B5A0518-1CDA-CA94-327E-0995E9EC2B8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67000" y="304800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PROBLEM UNDERSTANDING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971" y="1239969"/>
            <a:ext cx="86868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Anemia is an important health concern among women in India.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Large health datasets contain valuable information about anemia prevalence.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Raw datasets can be difficult to understand without proper processing and analysis.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This project analyzes anemia prevalence among women aged 15–49 years.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The project uses NFHS data to identify patterns across States/UTs and districts.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Data analysis and visualization are used to present the findings clearly.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0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68880" y="21633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1251" y="1131570"/>
            <a:ext cx="877824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Anemia affects the health and well-being of women.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Understanding anemia prevalence can help identify areas with higher levels of anemia.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b="1" dirty="0"/>
              <a:t>National Family Health Survey (NFHS)</a:t>
            </a:r>
            <a:r>
              <a:rPr lang="en-US" sz="2800" dirty="0"/>
              <a:t> provides important health-related data.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Python is used for data processing, analysis, and visualization.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Pandas and NumPy are used for data manipulation and statistical analysis.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Matplotlib and Seaborn are used to create visualizations.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391937" y="29493"/>
            <a:ext cx="5535181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62200" y="304800"/>
            <a:ext cx="5486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URRENT</a:t>
            </a: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/ M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ANUAL </a:t>
            </a: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PPROACH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186" y="1359229"/>
            <a:ext cx="877824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Health data is often available in large CSV or Excel files.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Manually examining large datasets is time-consuming.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Comparing anemia prevalence across many districts and States/UTs is difficult.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Patterns and relationships may not be easily visible in raw tables.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Manual calculations can lead to errors.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Raw numerical data is difficult to communicate without visualizations. </a:t>
            </a:r>
          </a:p>
        </p:txBody>
      </p:sp>
    </p:spTree>
    <p:extLst>
      <p:ext uri="{BB962C8B-B14F-4D97-AF65-F5344CB8AC3E}">
        <p14:creationId xmlns:p14="http://schemas.microsoft.com/office/powerpoint/2010/main" val="427383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5B97-4948-1D36-1564-48F01509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D28B387B-EB3D-FC8A-3A51-DDD2B8696A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5B758792-840A-895D-A2CD-A09955CC1720}"/>
              </a:ext>
            </a:extLst>
          </p:cNvPr>
          <p:cNvGrpSpPr/>
          <p:nvPr/>
        </p:nvGrpSpPr>
        <p:grpSpPr>
          <a:xfrm>
            <a:off x="2477248" y="67958"/>
            <a:ext cx="6133352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E290B6E4-4C6A-D92F-FFFC-B388B784351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87F4EE37-279F-308C-F87F-6E638DA1937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8ED23BED-35EB-2EF2-62D6-17D1E3CB000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2F06FBF5-D468-2472-2E09-3659EB0BF5E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766116" y="332382"/>
            <a:ext cx="541469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LIMITATIONS OF MANUAL ANALYSIS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1325880"/>
            <a:ext cx="87782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800" dirty="0"/>
              <a:t>Time-consuming for large datasets.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Difficult to compare many States/UTs and districts.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Difficult to identify correlations manually.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Missing or inconsistent data can affect analysis.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Trends are difficult to identify from raw tables.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Manual calculations increase the possibility of errors.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Results are harder to present without charts.</a:t>
            </a:r>
          </a:p>
        </p:txBody>
      </p:sp>
    </p:spTree>
    <p:extLst>
      <p:ext uri="{BB962C8B-B14F-4D97-AF65-F5344CB8AC3E}">
        <p14:creationId xmlns:p14="http://schemas.microsoft.com/office/powerpoint/2010/main" val="1626336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3" name="object 3">
            <a:extLst>
              <a:ext uri="{FF2B5EF4-FFF2-40B4-BE49-F238E27FC236}">
                <a16:creationId xmlns:a16="http://schemas.microsoft.com/office/drawing/2014/main" id="{39A132B5-7282-BB0D-41D0-2D605FAF9D2A}"/>
              </a:ext>
            </a:extLst>
          </p:cNvPr>
          <p:cNvGrpSpPr/>
          <p:nvPr/>
        </p:nvGrpSpPr>
        <p:grpSpPr>
          <a:xfrm>
            <a:off x="2743200" y="228600"/>
            <a:ext cx="4997767" cy="1092279"/>
            <a:chOff x="2703195" y="86439"/>
            <a:chExt cx="4997767" cy="1092279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19E5F2C6-879E-09C8-70D8-F12E4105BA4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12F6F0F7-7EC3-7119-588E-9CA45688A5E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FF94120-5DAA-BA86-6F61-CE59BF796C6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743200" y="374808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ROPOSED</a:t>
            </a: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APPROACH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1219200"/>
            <a:ext cx="850392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Our proposed data-analysis approach:</a:t>
            </a:r>
          </a:p>
          <a:p>
            <a:endParaRPr lang="en-US" sz="2800" b="1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Load NFHS dataset using Pandas.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Acquire and filter relevant data.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Extract required variables.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Validate and clean the data.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Aggregate data for analysis.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Perform descriptive and statistical analysis.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Create meaningful visualizations.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Interpret the results and summarize findings. </a:t>
            </a:r>
          </a:p>
        </p:txBody>
      </p:sp>
    </p:spTree>
    <p:extLst>
      <p:ext uri="{BB962C8B-B14F-4D97-AF65-F5344CB8AC3E}">
        <p14:creationId xmlns:p14="http://schemas.microsoft.com/office/powerpoint/2010/main" val="709256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4944C-8816-A98A-BE5A-6A28E3D13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97977331-EA1C-CA44-869F-6C400FF95B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493C539F-A86A-512C-CDC1-7D279B60EB1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EF4257B-2B43-17B3-FF4F-1187B669162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C6F1369C-4970-FF55-E67B-BCF08160A62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CF69E22F-BC21-03E7-F9F3-42AA69CA9E9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470ED999-51AF-0BD8-F3EE-37C965CA5C3F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722007" y="286489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DATASET DESCRIPTION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175511"/>
              </p:ext>
            </p:extLst>
          </p:nvPr>
        </p:nvGraphicFramePr>
        <p:xfrm>
          <a:off x="894553" y="1828800"/>
          <a:ext cx="3947160" cy="3219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30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Field</a:t>
                      </a:r>
                    </a:p>
                  </a:txBody>
                  <a:tcPr marT="25400" marB="25400">
                    <a:solidFill>
                      <a:srgbClr val="2334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Description</a:t>
                      </a:r>
                    </a:p>
                  </a:txBody>
                  <a:tcPr marT="25400" marB="25400">
                    <a:solidFill>
                      <a:srgbClr val="2334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0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Times New Roman"/>
                        </a:defRPr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Times New Roman"/>
                          <a:ea typeface="+mn-ea"/>
                          <a:cs typeface="+mn-cs"/>
                        </a:rPr>
                        <a:t>State/UT</a:t>
                      </a:r>
                      <a:endParaRPr dirty="0"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Times New Roman"/>
                        </a:defRPr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Times New Roman"/>
                          <a:ea typeface="+mn-ea"/>
                          <a:cs typeface="+mn-cs"/>
                        </a:rPr>
                        <a:t>Name of the State or Union Territory</a:t>
                      </a:r>
                      <a:endParaRPr dirty="0"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0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Times New Roman"/>
                        </a:defRPr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Times New Roman"/>
                          <a:ea typeface="+mn-ea"/>
                          <a:cs typeface="+mn-cs"/>
                        </a:rPr>
                        <a:t>District Names</a:t>
                      </a:r>
                      <a:endParaRPr dirty="0"/>
                    </a:p>
                  </a:txBody>
                  <a:tcPr marT="25400" marB="25400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Times New Roman"/>
                        </a:defRPr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Times New Roman"/>
                          <a:ea typeface="+mn-ea"/>
                          <a:cs typeface="+mn-cs"/>
                        </a:rPr>
                        <a:t>Name of the district</a:t>
                      </a:r>
                      <a:endParaRPr dirty="0"/>
                    </a:p>
                  </a:txBody>
                  <a:tcPr marT="25400" marB="25400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87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Times New Roman"/>
                        </a:defRPr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Times New Roman"/>
                          <a:ea typeface="+mn-ea"/>
                          <a:cs typeface="+mn-cs"/>
                        </a:rPr>
                        <a:t>All women age 15-49 years who are anaemic22 (%)</a:t>
                      </a:r>
                      <a:endParaRPr dirty="0"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Times New Roman"/>
                        </a:defRPr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Times New Roman"/>
                          <a:ea typeface="+mn-ea"/>
                          <a:cs typeface="+mn-cs"/>
                        </a:rPr>
                        <a:t>Percentage of women aged 15–49 years who are </a:t>
                      </a:r>
                      <a:r>
                        <a:rPr lang="en-US" sz="1100" dirty="0" err="1">
                          <a:solidFill>
                            <a:srgbClr val="2D2D2D"/>
                          </a:solidFill>
                          <a:latin typeface="Times New Roman"/>
                          <a:ea typeface="+mn-ea"/>
                          <a:cs typeface="+mn-cs"/>
                        </a:rPr>
                        <a:t>anaemic</a:t>
                      </a:r>
                      <a:endParaRPr dirty="0"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0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Times New Roman"/>
                        </a:defRPr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Times New Roman"/>
                          <a:ea typeface="+mn-ea"/>
                          <a:cs typeface="+mn-cs"/>
                        </a:rPr>
                        <a:t>Risk Score</a:t>
                      </a:r>
                      <a:endParaRPr dirty="0"/>
                    </a:p>
                  </a:txBody>
                  <a:tcPr marT="25400" marB="25400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Times New Roman"/>
                        </a:defRPr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Times New Roman"/>
                          <a:ea typeface="+mn-ea"/>
                          <a:cs typeface="+mn-cs"/>
                        </a:rPr>
                        <a:t>Calculated score representing selected anemia-related risk indicators</a:t>
                      </a:r>
                      <a:endParaRPr dirty="0"/>
                    </a:p>
                  </a:txBody>
                  <a:tcPr marT="25400" marB="25400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Times New Roman"/>
                        </a:defRPr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Times New Roman"/>
                          <a:ea typeface="+mn-ea"/>
                          <a:cs typeface="+mn-cs"/>
                        </a:rPr>
                        <a:t>Risk Category</a:t>
                      </a:r>
                      <a:endParaRPr dirty="0"/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Category assigned based on the Risk 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70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Times New Roman"/>
                        </a:defRPr>
                      </a:pPr>
                      <a:endParaRPr dirty="0"/>
                    </a:p>
                  </a:txBody>
                  <a:tcPr marT="25400" marB="25400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Times New Roman"/>
                        </a:defRPr>
                      </a:pPr>
                      <a:endParaRPr dirty="0"/>
                    </a:p>
                  </a:txBody>
                  <a:tcPr marT="25400" marB="25400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5001322" y="1761799"/>
            <a:ext cx="4526280" cy="86868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300" b="1" dirty="0">
                <a:solidFill>
                  <a:srgbClr val="FF6600"/>
                </a:solidFill>
                <a:latin typeface="Times New Roman"/>
              </a:rPr>
              <a:t>Dataset Snapshot</a:t>
            </a:r>
            <a:endParaRPr lang="en-US" sz="1300" b="1" dirty="0">
              <a:solidFill>
                <a:srgbClr val="FF6600"/>
              </a:solidFill>
              <a:latin typeface="Times New Roman"/>
            </a:endParaRPr>
          </a:p>
          <a:p>
            <a:r>
              <a:rPr lang="en-US" sz="1100" dirty="0">
                <a:solidFill>
                  <a:schemeClr val="tx1"/>
                </a:solidFill>
              </a:rPr>
              <a:t>NFHS-5 health data | District/Sate-level analysis | Women aged 15–49 years</a:t>
            </a:r>
            <a:endParaRPr lang="en-US" sz="1100" dirty="0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0" y="2834100"/>
            <a:ext cx="4526280" cy="86868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300" b="1" dirty="0">
                <a:solidFill>
                  <a:srgbClr val="FF6600"/>
                </a:solidFill>
                <a:latin typeface="Times New Roman"/>
              </a:rPr>
              <a:t>Data Quality Checks</a:t>
            </a:r>
          </a:p>
          <a:p>
            <a:r>
              <a:rPr lang="en-US" sz="1100" dirty="0">
                <a:solidFill>
                  <a:schemeClr val="tx1"/>
                </a:solidFill>
              </a:rPr>
              <a:t>Data validation performed • Missing/invalid data checked • Relevant variables selected • Data aggregated for analysis</a:t>
            </a:r>
            <a:endParaRPr sz="1100" dirty="0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001322" y="3925357"/>
            <a:ext cx="4526280" cy="86868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300" b="1">
                <a:solidFill>
                  <a:srgbClr val="FF6600"/>
                </a:solidFill>
                <a:latin typeface="Times New Roman"/>
              </a:rPr>
              <a:t>Tools &amp; Libraries</a:t>
            </a:r>
          </a:p>
          <a:p>
            <a:r>
              <a:rPr sz="1100">
                <a:solidFill>
                  <a:srgbClr val="2D2D2D"/>
                </a:solidFill>
                <a:latin typeface="Times New Roman"/>
              </a:rPr>
              <a:t>Python • Pandas • NumPy • Matplotlib • Seaborn</a:t>
            </a:r>
          </a:p>
        </p:txBody>
      </p:sp>
    </p:spTree>
    <p:extLst>
      <p:ext uri="{BB962C8B-B14F-4D97-AF65-F5344CB8AC3E}">
        <p14:creationId xmlns:p14="http://schemas.microsoft.com/office/powerpoint/2010/main" val="3510378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819400" y="52623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43200" y="256032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234440"/>
            <a:ext cx="3840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9703" y="1806223"/>
            <a:ext cx="3840480" cy="1379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Processor: Intel i3 or above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RAM: Minimum 4 GB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Storage: 20 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3676972"/>
            <a:ext cx="3840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Software Requirements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19703" y="4232516"/>
            <a:ext cx="7818993" cy="2757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Windows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2400" dirty="0"/>
              <a:t>any supported operating system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Python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Google Colab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Pandas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NumPy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Matplotlib / Seaborn</a:t>
            </a:r>
          </a:p>
        </p:txBody>
      </p:sp>
    </p:spTree>
    <p:extLst>
      <p:ext uri="{BB962C8B-B14F-4D97-AF65-F5344CB8AC3E}">
        <p14:creationId xmlns:p14="http://schemas.microsoft.com/office/powerpoint/2010/main" val="2272052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21ABBE52-8710-4E6B-00A1-6AE2E264A905}"/>
              </a:ext>
            </a:extLst>
          </p:cNvPr>
          <p:cNvGrpSpPr/>
          <p:nvPr/>
        </p:nvGrpSpPr>
        <p:grpSpPr>
          <a:xfrm>
            <a:off x="2515348" y="-31508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B01548A-FFE9-E3D8-12A9-78CF2115655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2274CD8-F01F-9319-4AED-E01AFBB7B3F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798807C2-A29E-0BF3-6CFE-592456DB3D5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012A6F5-DCDD-5346-54A8-BF352762053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pic>
        <p:nvPicPr>
          <p:cNvPr id="11" name="object 3">
            <a:extLst>
              <a:ext uri="{FF2B5EF4-FFF2-40B4-BE49-F238E27FC236}">
                <a16:creationId xmlns:a16="http://schemas.microsoft.com/office/drawing/2014/main" id="{A01798C2-99DE-A723-BAF6-CF11F4E8C1F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4800" y="204311"/>
            <a:ext cx="1163002" cy="4243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69627" y="226120"/>
            <a:ext cx="39540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C9C953-BED3-2F43-1A1F-3B7650BC3A88}"/>
              </a:ext>
            </a:extLst>
          </p:cNvPr>
          <p:cNvSpPr txBox="1"/>
          <p:nvPr/>
        </p:nvSpPr>
        <p:spPr>
          <a:xfrm>
            <a:off x="533400" y="1100062"/>
            <a:ext cx="9448800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200" b="1" dirty="0"/>
              <a:t>Data Loading &amp; Reading:</a:t>
            </a:r>
            <a:r>
              <a:rPr lang="en-US" sz="2200" dirty="0"/>
              <a:t> Load NFHS-5 datasets using Pandas.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200" b="1" dirty="0"/>
              <a:t>Data Acquisition &amp; Filtering:</a:t>
            </a:r>
            <a:r>
              <a:rPr lang="en-US" sz="2200" dirty="0"/>
              <a:t> Select relevant data and columns.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200" b="1" dirty="0"/>
              <a:t>Data Extraction:</a:t>
            </a:r>
            <a:r>
              <a:rPr lang="en-US" sz="2200" dirty="0"/>
              <a:t> Extract anemia, health, education, and nutrition indicators.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200" b="1" dirty="0"/>
              <a:t>Data Validation &amp; Cleaning:</a:t>
            </a:r>
            <a:r>
              <a:rPr lang="en-US" sz="2200" dirty="0"/>
              <a:t> Handle missing values, duplicates, and inconsistencies.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200" b="1" dirty="0"/>
              <a:t>Data Aggregation &amp; Representation:</a:t>
            </a:r>
            <a:r>
              <a:rPr lang="en-US" sz="2200" dirty="0"/>
              <a:t> Summarize data and calculate Risk Scores, if applicable.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200" b="1" dirty="0"/>
              <a:t>Data Analysis:</a:t>
            </a:r>
            <a:r>
              <a:rPr lang="en-US" sz="2200" dirty="0"/>
              <a:t> Analyze and compare anemia prevalence across States/UTs and districts.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200" b="1" dirty="0"/>
              <a:t>Data Visualization:</a:t>
            </a:r>
            <a:r>
              <a:rPr lang="en-US" sz="2200" dirty="0"/>
              <a:t> Create charts, graphs, and correlation heatmaps.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200" b="1" dirty="0"/>
              <a:t>Machine Learning Model:</a:t>
            </a:r>
            <a:r>
              <a:rPr lang="en-US" sz="2200" dirty="0"/>
              <a:t> Train a Linear Regression model and evaluate its predictions.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200" b="1" dirty="0"/>
              <a:t>Interactive Dashboard:</a:t>
            </a:r>
            <a:r>
              <a:rPr lang="en-US" sz="2200" dirty="0"/>
              <a:t> Display key indicators, visualizations, and comparisons.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200" b="1" dirty="0"/>
              <a:t>Results &amp; Interpretation:</a:t>
            </a:r>
            <a:r>
              <a:rPr lang="en-US" sz="2200" dirty="0"/>
              <a:t> Summarize findings, insights, and limitations.</a:t>
            </a:r>
          </a:p>
        </p:txBody>
      </p:sp>
    </p:spTree>
    <p:extLst>
      <p:ext uri="{BB962C8B-B14F-4D97-AF65-F5344CB8AC3E}">
        <p14:creationId xmlns:p14="http://schemas.microsoft.com/office/powerpoint/2010/main" val="314495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3">
            <a:extLst>
              <a:ext uri="{FF2B5EF4-FFF2-40B4-BE49-F238E27FC236}">
                <a16:creationId xmlns:a16="http://schemas.microsoft.com/office/drawing/2014/main" id="{D26E0863-A3EE-1EC4-F128-4D4F1A60D3A0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21" name="object 4">
              <a:extLst>
                <a:ext uri="{FF2B5EF4-FFF2-40B4-BE49-F238E27FC236}">
                  <a16:creationId xmlns:a16="http://schemas.microsoft.com/office/drawing/2014/main" id="{77890B8C-7EC3-B7B1-BF56-4F5DE13755D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2" name="object 5">
              <a:extLst>
                <a:ext uri="{FF2B5EF4-FFF2-40B4-BE49-F238E27FC236}">
                  <a16:creationId xmlns:a16="http://schemas.microsoft.com/office/drawing/2014/main" id="{E9CC3DEB-E45E-85F9-CD38-C2C4966FBC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3" name="object 6">
              <a:extLst>
                <a:ext uri="{FF2B5EF4-FFF2-40B4-BE49-F238E27FC236}">
                  <a16:creationId xmlns:a16="http://schemas.microsoft.com/office/drawing/2014/main" id="{4C3D8E05-12DF-F9A5-1AF2-87C24DA53BB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4" name="object 7">
              <a:extLst>
                <a:ext uri="{FF2B5EF4-FFF2-40B4-BE49-F238E27FC236}">
                  <a16:creationId xmlns:a16="http://schemas.microsoft.com/office/drawing/2014/main" id="{EF5B48B8-D150-0E57-59D0-4E3B78C2948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468880" y="396841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DATA VISUALIZATION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01B462-3A64-EBD1-10B9-70B9C48D19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162159"/>
            <a:ext cx="6888423" cy="3027679"/>
          </a:xfrm>
          <a:prstGeom prst="rect">
            <a:avLst/>
          </a:prstGeom>
        </p:spPr>
      </p:pic>
      <p:pic>
        <p:nvPicPr>
          <p:cNvPr id="6" name="object 3">
            <a:extLst>
              <a:ext uri="{FF2B5EF4-FFF2-40B4-BE49-F238E27FC236}">
                <a16:creationId xmlns:a16="http://schemas.microsoft.com/office/drawing/2014/main" id="{83712A36-059A-8B66-DF63-B09AB444A568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FC6312-B5A7-C225-69FF-64CF259B8B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4343493"/>
            <a:ext cx="6257739" cy="319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606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F6B362-FC68-AC9B-7080-BFBE1B7F5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752" y="838200"/>
            <a:ext cx="6553200" cy="304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2036CB-3333-323B-E3BE-2588B5596C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752" y="4095751"/>
            <a:ext cx="6939776" cy="3472338"/>
          </a:xfrm>
          <a:prstGeom prst="rect">
            <a:avLst/>
          </a:prstGeom>
        </p:spPr>
      </p:pic>
      <p:pic>
        <p:nvPicPr>
          <p:cNvPr id="11" name="object 3">
            <a:extLst>
              <a:ext uri="{FF2B5EF4-FFF2-40B4-BE49-F238E27FC236}">
                <a16:creationId xmlns:a16="http://schemas.microsoft.com/office/drawing/2014/main" id="{E7AE0732-15A6-BD1F-0447-F174F96B1F3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80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3">
            <a:extLst>
              <a:ext uri="{FF2B5EF4-FFF2-40B4-BE49-F238E27FC236}">
                <a16:creationId xmlns:a16="http://schemas.microsoft.com/office/drawing/2014/main" id="{698C4955-2C6C-07DF-AE98-823B586DED0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26A68E-E8D9-8100-BCC9-B82D79A11E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752" y="476249"/>
            <a:ext cx="6553200" cy="32575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8EEE9F-F4A6-03AA-B30A-72C61E2905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4038601"/>
            <a:ext cx="6553199" cy="348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833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D26E0863-A3EE-1EC4-F128-4D4F1A60D3A0}"/>
              </a:ext>
            </a:extLst>
          </p:cNvPr>
          <p:cNvGrpSpPr/>
          <p:nvPr/>
        </p:nvGrpSpPr>
        <p:grpSpPr>
          <a:xfrm>
            <a:off x="2362200" y="0"/>
            <a:ext cx="5791200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77890B8C-7EC3-B7B1-BF56-4F5DE13755D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E9CC3DEB-E45E-85F9-CD38-C2C4966FBC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4C3D8E05-12DF-F9A5-1AF2-87C24DA53BB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EF5B48B8-D150-0E57-59D0-4E3B78C2948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844537" y="183656"/>
            <a:ext cx="4648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KEY INSIGHTS &amp; ANALYSIS</a:t>
            </a:r>
          </a:p>
          <a:p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66750" y="1080538"/>
            <a:ext cx="872490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800" dirty="0"/>
              <a:t>The overall average anemia prevalence was </a:t>
            </a:r>
            <a:r>
              <a:rPr lang="en-US" sz="2800" b="1" dirty="0"/>
              <a:t>55.9%</a:t>
            </a:r>
            <a:r>
              <a:rPr lang="en-US" sz="28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800" dirty="0"/>
              <a:t>The state-wise analysis shows differences in anemia prevalence across States/UTs.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800" dirty="0"/>
              <a:t>The top 10 States/UTs with higher anemia prevalence were identified.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800" dirty="0"/>
              <a:t>The district-wise analysis identified the districts with the highest anemia prevalence.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800" dirty="0"/>
              <a:t>The correlation heatmap shows relationships between anemia prevalence and other numerical indicators.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800" dirty="0"/>
              <a:t>The Risk Score analysis was used to examine its relationship with women's anemia prevalence.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800" dirty="0"/>
              <a:t>Risk Categories helped summarize districts according to their calculated risk levels.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319CDB26-B1FA-2BF8-62C9-507DA5EE1EB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67ACC245-70D9-3E8C-5FB8-754CFCF29BA7}"/>
              </a:ext>
            </a:extLst>
          </p:cNvPr>
          <p:cNvGrpSpPr/>
          <p:nvPr/>
        </p:nvGrpSpPr>
        <p:grpSpPr>
          <a:xfrm>
            <a:off x="1981200" y="152400"/>
            <a:ext cx="6096000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6520D471-D4E5-A862-75B1-D9BCC13CCE7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AD22DAB3-C37B-1766-28C4-6EB13F7079C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CDC96198-DF83-D7E8-5187-D35038090D7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BAA191BE-B616-456E-A32A-06C5D11989B1}"/>
                </a:ext>
              </a:extLst>
            </p:cNvPr>
            <p:cNvSpPr/>
            <p:nvPr/>
          </p:nvSpPr>
          <p:spPr>
            <a:xfrm>
              <a:off x="2828925" y="282892"/>
              <a:ext cx="4534295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/>
                <a:t>                     </a:t>
              </a:r>
              <a:endParaRPr sz="2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2456812" y="394639"/>
            <a:ext cx="49977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IMPLEMENTATION</a:t>
            </a: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WORKFLOW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0453308B-C892-A3D8-BB9F-4AED63FAD3C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31D7C55-DF4E-A110-9AAA-CE55AD53C8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1278833"/>
            <a:ext cx="8763000" cy="5642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52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88870" y="36844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50" y="1125084"/>
            <a:ext cx="96012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The project analyzed anemia prevalence among women aged 15–49 years using NFHS data.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Data processing techniques helped transform raw health data into useful information.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State-wise and district-wise analysis revealed differences in anemia prevalence.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Correlation analysis helped examine relationships between anemia and other numerical indicators.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Risk Score analysis provided an additional way to examine anemia-related patterns.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Visualizations made the analysis easier to understand and communicate.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The findings provide useful descriptive insights into anemia patterns in the analyzed NFHS data.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400" cy="777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9400" y="0"/>
            <a:ext cx="8219599" cy="77724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5372" y="0"/>
            <a:ext cx="8207655" cy="77724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57302" y="2266230"/>
            <a:ext cx="7543800" cy="3132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700"/>
              </a:spcAft>
              <a:defRPr sz="3400" b="1">
                <a:solidFill>
                  <a:srgbClr val="233464"/>
                </a:solidFill>
                <a:latin typeface="Aptos"/>
              </a:defRPr>
            </a:pPr>
            <a:r>
              <a:rPr lang="en-US" sz="7200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THANK YOU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67812" y="6261424"/>
            <a:ext cx="3922776" cy="310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A36E30A8-BD1B-0058-4620-F390351DADB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3432</TotalTime>
  <Words>884</Words>
  <Application>Microsoft Office PowerPoint</Application>
  <PresentationFormat>Custom</PresentationFormat>
  <Paragraphs>130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Palatino Linotype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M V</cp:lastModifiedBy>
  <cp:revision>118</cp:revision>
  <cp:lastPrinted>2025-10-14T18:21:49Z</cp:lastPrinted>
  <dcterms:created xsi:type="dcterms:W3CDTF">2025-10-10T08:28:06Z</dcterms:created>
  <dcterms:modified xsi:type="dcterms:W3CDTF">2026-10-28T13:56:10Z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