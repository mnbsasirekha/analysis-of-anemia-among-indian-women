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4" r:id="rId6"/>
    <p:sldId id="279" r:id="rId7"/>
    <p:sldId id="276" r:id="rId8"/>
    <p:sldId id="280" r:id="rId9"/>
    <p:sldId id="278" r:id="rId10"/>
    <p:sldId id="271" r:id="rId11"/>
    <p:sldId id="281" r:id="rId12"/>
    <p:sldId id="283" r:id="rId13"/>
    <p:sldId id="286" r:id="rId14"/>
    <p:sldId id="285" r:id="rId15"/>
    <p:sldId id="284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597685-9CB6-45F9-A194-17869D503BB0}" v="6" dt="2026-09-22T09:10:40.5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na chand" userId="6e54419aa65d471c" providerId="LiveId" clId="{2483B58E-5644-4E75-AA46-D334125ADD6E}"/>
    <pc:docChg chg="undo custSel modSld">
      <pc:chgData name="purna chand" userId="6e54419aa65d471c" providerId="LiveId" clId="{2483B58E-5644-4E75-AA46-D334125ADD6E}" dt="2026-09-22T09:13:59.059" v="130" actId="1076"/>
      <pc:docMkLst>
        <pc:docMk/>
      </pc:docMkLst>
      <pc:sldChg chg="addSp delSp modSp mod">
        <pc:chgData name="purna chand" userId="6e54419aa65d471c" providerId="LiveId" clId="{2483B58E-5644-4E75-AA46-D334125ADD6E}" dt="2026-09-22T09:10:12.476" v="82" actId="1076"/>
        <pc:sldMkLst>
          <pc:docMk/>
          <pc:sldMk cId="314495878" sldId="271"/>
        </pc:sldMkLst>
        <pc:spChg chg="add mod">
          <ac:chgData name="purna chand" userId="6e54419aa65d471c" providerId="LiveId" clId="{2483B58E-5644-4E75-AA46-D334125ADD6E}" dt="2026-09-22T09:10:12.476" v="82" actId="1076"/>
          <ac:spMkLst>
            <pc:docMk/>
            <pc:sldMk cId="314495878" sldId="271"/>
            <ac:spMk id="4" creationId="{52502A97-D245-72B2-C4CE-36C3CF74332D}"/>
          </ac:spMkLst>
        </pc:spChg>
        <pc:spChg chg="add del mod">
          <ac:chgData name="purna chand" userId="6e54419aa65d471c" providerId="LiveId" clId="{2483B58E-5644-4E75-AA46-D334125ADD6E}" dt="2026-09-22T09:06:10.678" v="37"/>
          <ac:spMkLst>
            <pc:docMk/>
            <pc:sldMk cId="314495878" sldId="271"/>
            <ac:spMk id="10" creationId="{C3424CE3-2BBD-D949-B6E7-EE563E93A1D9}"/>
          </ac:spMkLst>
        </pc:spChg>
        <pc:spChg chg="mod">
          <ac:chgData name="purna chand" userId="6e54419aa65d471c" providerId="LiveId" clId="{2483B58E-5644-4E75-AA46-D334125ADD6E}" dt="2026-09-22T09:06:53.284" v="48" actId="1076"/>
          <ac:spMkLst>
            <pc:docMk/>
            <pc:sldMk cId="314495878" sldId="271"/>
            <ac:spMk id="12" creationId="{00000000-0000-0000-0000-000000000000}"/>
          </ac:spMkLst>
        </pc:spChg>
        <pc:spChg chg="add mod">
          <ac:chgData name="purna chand" userId="6e54419aa65d471c" providerId="LiveId" clId="{2483B58E-5644-4E75-AA46-D334125ADD6E}" dt="2026-09-22T09:08:39.566" v="64" actId="1076"/>
          <ac:spMkLst>
            <pc:docMk/>
            <pc:sldMk cId="314495878" sldId="271"/>
            <ac:spMk id="13" creationId="{0E34B842-9CD3-AA46-6CA7-F730C9D1D96E}"/>
          </ac:spMkLst>
        </pc:spChg>
        <pc:spChg chg="add mod">
          <ac:chgData name="purna chand" userId="6e54419aa65d471c" providerId="LiveId" clId="{2483B58E-5644-4E75-AA46-D334125ADD6E}" dt="2026-09-22T09:10:07.110" v="81" actId="1076"/>
          <ac:spMkLst>
            <pc:docMk/>
            <pc:sldMk cId="314495878" sldId="271"/>
            <ac:spMk id="15" creationId="{D18714A5-46F1-BD0D-4A00-BB0C1211F660}"/>
          </ac:spMkLst>
        </pc:spChg>
        <pc:spChg chg="add mod">
          <ac:chgData name="purna chand" userId="6e54419aa65d471c" providerId="LiveId" clId="{2483B58E-5644-4E75-AA46-D334125ADD6E}" dt="2026-09-22T09:08:48.654" v="66" actId="1076"/>
          <ac:spMkLst>
            <pc:docMk/>
            <pc:sldMk cId="314495878" sldId="271"/>
            <ac:spMk id="16" creationId="{D359C03E-C4CB-43D3-0C7D-3D50822A8B32}"/>
          </ac:spMkLst>
        </pc:spChg>
        <pc:spChg chg="add mod">
          <ac:chgData name="purna chand" userId="6e54419aa65d471c" providerId="LiveId" clId="{2483B58E-5644-4E75-AA46-D334125ADD6E}" dt="2026-09-22T09:09:02.344" v="69" actId="1076"/>
          <ac:spMkLst>
            <pc:docMk/>
            <pc:sldMk cId="314495878" sldId="271"/>
            <ac:spMk id="18" creationId="{E02D8121-E16D-A49A-1052-85D8AFE05F58}"/>
          </ac:spMkLst>
        </pc:spChg>
        <pc:spChg chg="mod">
          <ac:chgData name="purna chand" userId="6e54419aa65d471c" providerId="LiveId" clId="{2483B58E-5644-4E75-AA46-D334125ADD6E}" dt="2026-09-22T09:08:25.917" v="61" actId="1076"/>
          <ac:spMkLst>
            <pc:docMk/>
            <pc:sldMk cId="314495878" sldId="271"/>
            <ac:spMk id="20" creationId="{00000000-0000-0000-0000-000000000000}"/>
          </ac:spMkLst>
        </pc:spChg>
        <pc:spChg chg="add mod">
          <ac:chgData name="purna chand" userId="6e54419aa65d471c" providerId="LiveId" clId="{2483B58E-5644-4E75-AA46-D334125ADD6E}" dt="2026-09-22T09:09:59.881" v="80" actId="1076"/>
          <ac:spMkLst>
            <pc:docMk/>
            <pc:sldMk cId="314495878" sldId="271"/>
            <ac:spMk id="21" creationId="{B1C9C953-BED3-2F43-1A1F-3B7650BC3A88}"/>
          </ac:spMkLst>
        </pc:spChg>
        <pc:cxnChg chg="add del">
          <ac:chgData name="purna chand" userId="6e54419aa65d471c" providerId="LiveId" clId="{2483B58E-5644-4E75-AA46-D334125ADD6E}" dt="2026-09-22T09:05:07.531" v="24" actId="11529"/>
          <ac:cxnSpMkLst>
            <pc:docMk/>
            <pc:sldMk cId="314495878" sldId="271"/>
            <ac:cxnSpMk id="3" creationId="{F0BC3A08-AD3D-3AB9-73F3-725E1C529C83}"/>
          </ac:cxnSpMkLst>
        </pc:cxnChg>
      </pc:sldChg>
      <pc:sldChg chg="addSp delSp modSp mod">
        <pc:chgData name="purna chand" userId="6e54419aa65d471c" providerId="LiveId" clId="{2483B58E-5644-4E75-AA46-D334125ADD6E}" dt="2026-09-22T09:13:59.059" v="130" actId="1076"/>
        <pc:sldMkLst>
          <pc:docMk/>
          <pc:sldMk cId="3744217247" sldId="281"/>
        </pc:sldMkLst>
        <pc:spChg chg="add">
          <ac:chgData name="purna chand" userId="6e54419aa65d471c" providerId="LiveId" clId="{2483B58E-5644-4E75-AA46-D334125ADD6E}" dt="2026-09-22T09:10:28.519" v="84" actId="22"/>
          <ac:spMkLst>
            <pc:docMk/>
            <pc:sldMk cId="3744217247" sldId="281"/>
            <ac:spMk id="3" creationId="{58C6D514-1AF0-EDB1-7078-687065ECF56B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2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3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4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5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6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7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8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9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20" creationId="{00000000-0000-0000-0000-000000000000}"/>
          </ac:spMkLst>
        </pc:spChg>
        <pc:spChg chg="mod">
          <ac:chgData name="purna chand" userId="6e54419aa65d471c" providerId="LiveId" clId="{2483B58E-5644-4E75-AA46-D334125ADD6E}" dt="2026-09-22T09:10:40.518" v="85"/>
          <ac:spMkLst>
            <pc:docMk/>
            <pc:sldMk cId="3744217247" sldId="281"/>
            <ac:spMk id="23" creationId="{B3782B54-B821-DE87-C2B7-79ECF9E77AF9}"/>
          </ac:spMkLst>
        </pc:spChg>
        <pc:spChg chg="add mod">
          <ac:chgData name="purna chand" userId="6e54419aa65d471c" providerId="LiveId" clId="{2483B58E-5644-4E75-AA46-D334125ADD6E}" dt="2026-09-22T09:13:59.059" v="130" actId="1076"/>
          <ac:spMkLst>
            <pc:docMk/>
            <pc:sldMk cId="3744217247" sldId="281"/>
            <ac:spMk id="25" creationId="{A5CA9835-2A27-E3B2-E349-E0FE4429CFBE}"/>
          </ac:spMkLst>
        </pc:spChg>
        <pc:spChg chg="add mod">
          <ac:chgData name="purna chand" userId="6e54419aa65d471c" providerId="LiveId" clId="{2483B58E-5644-4E75-AA46-D334125ADD6E}" dt="2026-09-22T09:11:43.863" v="99" actId="1076"/>
          <ac:spMkLst>
            <pc:docMk/>
            <pc:sldMk cId="3744217247" sldId="281"/>
            <ac:spMk id="27" creationId="{769BA950-6049-F76A-4A0C-CF5ED87D2763}"/>
          </ac:spMkLst>
        </pc:spChg>
        <pc:spChg chg="add mod">
          <ac:chgData name="purna chand" userId="6e54419aa65d471c" providerId="LiveId" clId="{2483B58E-5644-4E75-AA46-D334125ADD6E}" dt="2026-09-22T09:11:56.197" v="101" actId="1076"/>
          <ac:spMkLst>
            <pc:docMk/>
            <pc:sldMk cId="3744217247" sldId="281"/>
            <ac:spMk id="29" creationId="{3B0312D2-1C2D-0FC3-47A4-8970E0D691E7}"/>
          </ac:spMkLst>
        </pc:spChg>
        <pc:spChg chg="add mod">
          <ac:chgData name="purna chand" userId="6e54419aa65d471c" providerId="LiveId" clId="{2483B58E-5644-4E75-AA46-D334125ADD6E}" dt="2026-09-22T09:12:22.479" v="109" actId="14100"/>
          <ac:spMkLst>
            <pc:docMk/>
            <pc:sldMk cId="3744217247" sldId="281"/>
            <ac:spMk id="31" creationId="{6FA49019-54D3-0F1F-3651-5D4892AE3078}"/>
          </ac:spMkLst>
        </pc:spChg>
        <pc:spChg chg="add mod">
          <ac:chgData name="purna chand" userId="6e54419aa65d471c" providerId="LiveId" clId="{2483B58E-5644-4E75-AA46-D334125ADD6E}" dt="2026-09-22T09:12:33.020" v="111" actId="1076"/>
          <ac:spMkLst>
            <pc:docMk/>
            <pc:sldMk cId="3744217247" sldId="281"/>
            <ac:spMk id="33" creationId="{6D0F4567-D057-4BE7-32A7-334EC2164A2C}"/>
          </ac:spMkLst>
        </pc:spChg>
        <pc:spChg chg="add mod">
          <ac:chgData name="purna chand" userId="6e54419aa65d471c" providerId="LiveId" clId="{2483B58E-5644-4E75-AA46-D334125ADD6E}" dt="2026-09-22T09:13:12.785" v="119" actId="1076"/>
          <ac:spMkLst>
            <pc:docMk/>
            <pc:sldMk cId="3744217247" sldId="281"/>
            <ac:spMk id="35" creationId="{53C43C12-4B70-F721-9E0A-DD8370D3BABC}"/>
          </ac:spMkLst>
        </pc:spChg>
        <pc:spChg chg="add mod">
          <ac:chgData name="purna chand" userId="6e54419aa65d471c" providerId="LiveId" clId="{2483B58E-5644-4E75-AA46-D334125ADD6E}" dt="2026-09-22T09:13:22.745" v="121" actId="1076"/>
          <ac:spMkLst>
            <pc:docMk/>
            <pc:sldMk cId="3744217247" sldId="281"/>
            <ac:spMk id="37" creationId="{D2A13C47-9211-7F6A-3235-E7CA857CC45D}"/>
          </ac:spMkLst>
        </pc:spChg>
        <pc:spChg chg="add mod">
          <ac:chgData name="purna chand" userId="6e54419aa65d471c" providerId="LiveId" clId="{2483B58E-5644-4E75-AA46-D334125ADD6E}" dt="2026-09-22T09:13:51.692" v="129" actId="1076"/>
          <ac:spMkLst>
            <pc:docMk/>
            <pc:sldMk cId="3744217247" sldId="281"/>
            <ac:spMk id="39" creationId="{A378BCE5-A3E9-0942-2521-8A05596F86BE}"/>
          </ac:spMkLst>
        </pc:spChg>
        <pc:grpChg chg="add mod">
          <ac:chgData name="purna chand" userId="6e54419aa65d471c" providerId="LiveId" clId="{2483B58E-5644-4E75-AA46-D334125ADD6E}" dt="2026-09-22T09:10:40.518" v="85"/>
          <ac:grpSpMkLst>
            <pc:docMk/>
            <pc:sldMk cId="3744217247" sldId="281"/>
            <ac:grpSpMk id="4" creationId="{F02D1B8B-963F-84C5-69F0-17C3EECCFD8D}"/>
          </ac:grpSpMkLst>
        </pc:grpChg>
        <pc:picChg chg="mod">
          <ac:chgData name="purna chand" userId="6e54419aa65d471c" providerId="LiveId" clId="{2483B58E-5644-4E75-AA46-D334125ADD6E}" dt="2026-09-22T09:10:40.518" v="85"/>
          <ac:picMkLst>
            <pc:docMk/>
            <pc:sldMk cId="3744217247" sldId="281"/>
            <ac:picMk id="10" creationId="{BD448D2F-A85D-4EA9-4AFA-DBD143FFC367}"/>
          </ac:picMkLst>
        </pc:picChg>
        <pc:picChg chg="del">
          <ac:chgData name="purna chand" userId="6e54419aa65d471c" providerId="LiveId" clId="{2483B58E-5644-4E75-AA46-D334125ADD6E}" dt="2026-09-22T09:10:20.918" v="83" actId="478"/>
          <ac:picMkLst>
            <pc:docMk/>
            <pc:sldMk cId="3744217247" sldId="281"/>
            <ac:picMk id="11" creationId="{A6C365DC-19B7-1764-968A-F9C87D5E4951}"/>
          </ac:picMkLst>
        </pc:picChg>
        <pc:picChg chg="mod">
          <ac:chgData name="purna chand" userId="6e54419aa65d471c" providerId="LiveId" clId="{2483B58E-5644-4E75-AA46-D334125ADD6E}" dt="2026-09-22T09:10:40.518" v="85"/>
          <ac:picMkLst>
            <pc:docMk/>
            <pc:sldMk cId="3744217247" sldId="281"/>
            <ac:picMk id="21" creationId="{70B9531E-FF63-3CBC-8C76-5101CEB24CF2}"/>
          </ac:picMkLst>
        </pc:picChg>
        <pc:picChg chg="mod">
          <ac:chgData name="purna chand" userId="6e54419aa65d471c" providerId="LiveId" clId="{2483B58E-5644-4E75-AA46-D334125ADD6E}" dt="2026-09-22T09:10:40.518" v="85"/>
          <ac:picMkLst>
            <pc:docMk/>
            <pc:sldMk cId="3744217247" sldId="281"/>
            <ac:picMk id="22" creationId="{A51A82D2-D894-569F-6C1F-514FA4F1297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E0C1-6277-CAD3-8A7C-7F0F37C6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776A0-3BEE-1FDC-EADA-6B6FA1E1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53676-942B-2284-A56F-CCE051D8D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B2BB-B290-5A6F-7542-202146F1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7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29-Sep-26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29-Sep-26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29-Sep-26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29-Sep-26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29-Sep-26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29-Sep-26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sz="3200" dirty="0">
                <a:latin typeface="Times New Roman" pitchFamily="18" charset="0"/>
                <a:cs typeface="Times New Roman" pitchFamily="18" charset="0"/>
              </a:rPr>
              <a:t>Analysis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of Anemia among Indian Women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7955279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M.N.B.Sasirekha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(25B11CS528)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P.N.Maheswari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(25B11CS691)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M.Yaswanth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(25B11CS527)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M.Pavan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(25B11CS535)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Guide: Mr. </a:t>
            </a:r>
            <a:r>
              <a:rPr sz="1600" b="1" dirty="0" err="1">
                <a:latin typeface="Times New Roman" pitchFamily="18" charset="0"/>
                <a:cs typeface="Times New Roman" pitchFamily="18" charset="0"/>
              </a:rPr>
              <a:t>K. Ashok Teja, Assistant Professor, CSE Dept.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0" y="1676400"/>
            <a:ext cx="7132320" cy="5052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Problem Understanding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Current Approach &amp; Limitations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Approach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Description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Requirements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Methodology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Visualization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Insights &amp; Analysis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Implementation Workflow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PROBLEM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524000"/>
            <a:ext cx="8686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Anemia is an important health concern among women in India.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Large health datasets contain valuable information about anemia prevalence.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Raw datasets can be difficult to understand without proper processing and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analyzes anemia prevalence among women aged 15–49 years.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project uses NFHS data to identify patterns across States/UTs and districts.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Data analysis and visualization are used to present the findings clearly.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271" y="1438808"/>
            <a:ext cx="877824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Anemia affects the health and well-being of women.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Understanding anemia prevalence can help identify areas with higher levels of anemia.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National Family Health Survey (NFHS)</a:t>
            </a:r>
            <a:r>
              <a:rPr lang="en-US" sz="2800" dirty="0"/>
              <a:t> provides important health-related data.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uses </a:t>
            </a:r>
            <a:r>
              <a:rPr lang="en-US" sz="2800" b="1" dirty="0"/>
              <a:t>NFHS-4 and NFHS-5 data</a:t>
            </a:r>
            <a:r>
              <a:rPr lang="en-US" sz="2800" dirty="0"/>
              <a:t> as required for the project.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Python is used for data processing, analysis, and visualization.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Pandas and NumPy are used for data manipulation and statistical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Matplotlib and Seaborn are used to create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67000" y="304800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Current / Manual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87782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800" dirty="0"/>
              <a:t>Health data is often available in large CSV or Excel files. </a:t>
            </a:r>
          </a:p>
          <a:p>
            <a:pPr lvl="0"/>
            <a:r>
              <a:rPr lang="en-US" sz="2800" dirty="0"/>
              <a:t>Manually examining large datasets is time-consuming. </a:t>
            </a:r>
          </a:p>
          <a:p>
            <a:pPr lvl="0"/>
            <a:r>
              <a:rPr lang="en-US" sz="2800" dirty="0"/>
              <a:t>Comparing anemia prevalence across many districts and States/UTs is difficult. </a:t>
            </a:r>
          </a:p>
          <a:p>
            <a:pPr lvl="0"/>
            <a:r>
              <a:rPr lang="en-US" sz="2800" dirty="0"/>
              <a:t>Patterns and relationships may not be easily visible in raw tables. </a:t>
            </a:r>
          </a:p>
          <a:p>
            <a:pPr lvl="0"/>
            <a:r>
              <a:rPr lang="en-US" sz="2800" dirty="0"/>
              <a:t>Manual calculations can lead to errors.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Raw numerical data is difficult to communicate without visualizations. 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5B758792-840A-895D-A2CD-A09955CC1720}"/>
              </a:ext>
            </a:extLst>
          </p:cNvPr>
          <p:cNvGrpSpPr/>
          <p:nvPr/>
        </p:nvGrpSpPr>
        <p:grpSpPr>
          <a:xfrm>
            <a:off x="2743200" y="0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290B6E4-4C6A-D92F-FFFC-B388B78435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7F4EE37-279F-308C-F87F-6E638DA193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8ED23BED-35EB-2EF2-62D6-17D1E3CB000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2F06FBF5-D468-2472-2E09-3659EB0BF5E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Limitations of Manual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325880"/>
            <a:ext cx="87782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800" dirty="0"/>
              <a:t>Time-consuming for large datasets.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Difficult to compare many States/UTs and districts.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Difficult to identify correlations manually.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Missing or inconsistent data can affect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Trends are difficult to identify from raw tables.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Manual calculations increase the possibility of errors.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Results are harder to present without charts.</a:t>
            </a:r>
          </a:p>
        </p:txBody>
      </p: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37480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Proposed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604" y="1752600"/>
            <a:ext cx="85039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Our proposed data-analysis approach: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Load NFHS dataset using Pandas.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Acquire and filter relevant data.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Extract required variables.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Validate and clean the data.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Aggregate data for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Perform descriptive and statistical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 meaningful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Interpret the results and summarize findings. </a:t>
            </a: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962234"/>
              </p:ext>
            </p:extLst>
          </p:nvPr>
        </p:nvGraphicFramePr>
        <p:xfrm>
          <a:off x="548640" y="1733835"/>
          <a:ext cx="4480560" cy="3219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0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Field</a:t>
                      </a:r>
                    </a:p>
                  </a:txBody>
                  <a:tcPr marT="25400" marB="25400">
                    <a:solidFill>
                      <a:srgbClr val="2334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Description</a:t>
                      </a:r>
                    </a:p>
                  </a:txBody>
                  <a:tcPr marT="25400" marB="25400">
                    <a:solidFill>
                      <a:srgbClr val="233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0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State/UT</a:t>
                      </a:r>
                      <a:endParaRPr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Name of the State or Union Territory</a:t>
                      </a:r>
                      <a:endParaRPr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0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District Names</a:t>
                      </a: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Name of the district</a:t>
                      </a: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8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All women age 15-49 years who are anaemic22 (%)</a:t>
                      </a:r>
                      <a:endParaRPr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Percentage of women aged 15–49 years who are </a:t>
                      </a:r>
                      <a:r>
                        <a:rPr lang="en-US" sz="1100" dirty="0" err="1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anaemic</a:t>
                      </a:r>
                      <a:endParaRPr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0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Risk Score</a:t>
                      </a: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Calculated score representing selected anemia-related risk indicators</a:t>
                      </a: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Risk Category</a:t>
                      </a:r>
                      <a:endParaRPr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Category assigned based on the Risk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7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074920" y="1960365"/>
            <a:ext cx="45262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 dirty="0">
                <a:solidFill>
                  <a:srgbClr val="FF6600"/>
                </a:solidFill>
                <a:latin typeface="Times New Roman"/>
              </a:rPr>
              <a:t>Dataset Snapshot</a:t>
            </a:r>
          </a:p>
          <a:p>
            <a:r>
              <a:rPr lang="en-US" sz="1100" dirty="0">
                <a:solidFill>
                  <a:schemeClr val="tx1"/>
                </a:solidFill>
              </a:rPr>
              <a:t>NFHS-4 and NFHS-5 health data | District/State-level analysis | Women aged 15–49 years</a:t>
            </a:r>
            <a:endParaRPr sz="1100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74920" y="2971800"/>
            <a:ext cx="45262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 dirty="0">
                <a:solidFill>
                  <a:srgbClr val="FF6600"/>
                </a:solidFill>
                <a:latin typeface="Times New Roman"/>
              </a:rPr>
              <a:t>Data Quality Checks</a:t>
            </a:r>
          </a:p>
          <a:p>
            <a:r>
              <a:rPr lang="en-US" sz="1100" dirty="0">
                <a:solidFill>
                  <a:schemeClr val="tx1"/>
                </a:solidFill>
              </a:rPr>
              <a:t>Data validation performed • Missing/invalid data checked • Relevant variables selected • Data aggregated for analysis</a:t>
            </a:r>
            <a:endParaRPr sz="1100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74920" y="3977639"/>
            <a:ext cx="45262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>
                <a:solidFill>
                  <a:srgbClr val="FF6600"/>
                </a:solidFill>
                <a:latin typeface="Times New Roman"/>
              </a:rPr>
              <a:t>Tools &amp; Libraries</a:t>
            </a:r>
          </a:p>
          <a:p>
            <a:r>
              <a:rPr sz="1100">
                <a:solidFill>
                  <a:srgbClr val="2D2D2D"/>
                </a:solidFill>
                <a:latin typeface="Times New Roman"/>
              </a:rPr>
              <a:t>Python • Pandas • NumPy • Matplotlib • Seaborn</a:t>
            </a:r>
          </a:p>
        </p:txBody>
      </p:sp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234440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737360"/>
            <a:ext cx="384048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Processor: Intel i3 or above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RAM: Minimum 4 GB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Storage: 20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676972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Software Requirements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206" y="4319577"/>
            <a:ext cx="7818993" cy="275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Windows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400" dirty="0"/>
              <a:t>any supported operating system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 Colab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Pandas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NumPy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Matplotlib / Seaborn</a:t>
            </a: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9089" y="1107826"/>
            <a:ext cx="76819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Module 1 – Data Loading &amp; Reading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Load the NFHS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Check the dataset structure.</a:t>
            </a: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52502A97-D245-72B2-C4CE-36C3CF74332D}"/>
              </a:ext>
            </a:extLst>
          </p:cNvPr>
          <p:cNvSpPr/>
          <p:nvPr/>
        </p:nvSpPr>
        <p:spPr>
          <a:xfrm>
            <a:off x="4736495" y="2447891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4B842-9CD3-AA46-6CA7-F730C9D1D96E}"/>
              </a:ext>
            </a:extLst>
          </p:cNvPr>
          <p:cNvSpPr txBox="1"/>
          <p:nvPr/>
        </p:nvSpPr>
        <p:spPr>
          <a:xfrm>
            <a:off x="2289089" y="2667971"/>
            <a:ext cx="6248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Module 2 – Data Acquisition &amp; Filtering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Select the required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Filter relevant records.</a:t>
            </a:r>
          </a:p>
          <a:p>
            <a:pPr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18714A5-46F1-BD0D-4A00-BB0C1211F660}"/>
              </a:ext>
            </a:extLst>
          </p:cNvPr>
          <p:cNvSpPr/>
          <p:nvPr/>
        </p:nvSpPr>
        <p:spPr>
          <a:xfrm>
            <a:off x="4756604" y="3814644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59C03E-C4CB-43D3-0C7D-3D50822A8B32}"/>
              </a:ext>
            </a:extLst>
          </p:cNvPr>
          <p:cNvSpPr txBox="1"/>
          <p:nvPr/>
        </p:nvSpPr>
        <p:spPr>
          <a:xfrm>
            <a:off x="2289089" y="4218599"/>
            <a:ext cx="81897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Module 3 – Data Extraction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Extract required columns.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Select anemia-related information.</a:t>
            </a:r>
          </a:p>
          <a:p>
            <a:pPr lvl="0"/>
            <a:endParaRPr lang="en-US" sz="2400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E02D8121-E16D-A49A-1052-85D8AFE05F58}"/>
              </a:ext>
            </a:extLst>
          </p:cNvPr>
          <p:cNvSpPr/>
          <p:nvPr/>
        </p:nvSpPr>
        <p:spPr>
          <a:xfrm>
            <a:off x="4754386" y="5469412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9C953-BED3-2F43-1A1F-3B7650BC3A88}"/>
              </a:ext>
            </a:extLst>
          </p:cNvPr>
          <p:cNvSpPr txBox="1"/>
          <p:nvPr/>
        </p:nvSpPr>
        <p:spPr>
          <a:xfrm>
            <a:off x="2303957" y="5754136"/>
            <a:ext cx="71989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Module 4 – Data Validation &amp; Cleaning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Check missing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Remove duplicate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Clean the data.</a:t>
            </a: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E1A7-3004-3B9A-3BDF-6F0CD67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C6D514-1AF0-EDB1-7078-687065ECF56B}"/>
              </a:ext>
            </a:extLst>
          </p:cNvPr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F02D1B8B-963F-84C5-69F0-17C3EECCFD8D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BD448D2F-A85D-4EA9-4AFA-DBD143FFC36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1" name="object 5">
              <a:extLst>
                <a:ext uri="{FF2B5EF4-FFF2-40B4-BE49-F238E27FC236}">
                  <a16:creationId xmlns:a16="http://schemas.microsoft.com/office/drawing/2014/main" id="{70B9531E-FF63-3CBC-8C76-5101CEB24CF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2" name="object 6">
              <a:extLst>
                <a:ext uri="{FF2B5EF4-FFF2-40B4-BE49-F238E27FC236}">
                  <a16:creationId xmlns:a16="http://schemas.microsoft.com/office/drawing/2014/main" id="{A51A82D2-D894-569F-6C1F-514FA4F1297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3" name="object 7">
              <a:extLst>
                <a:ext uri="{FF2B5EF4-FFF2-40B4-BE49-F238E27FC236}">
                  <a16:creationId xmlns:a16="http://schemas.microsoft.com/office/drawing/2014/main" id="{B3782B54-B821-DE87-C2B7-79ECF9E77AF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5CA9835-2A27-E3B2-E349-E0FE4429CFBE}"/>
              </a:ext>
            </a:extLst>
          </p:cNvPr>
          <p:cNvSpPr txBox="1"/>
          <p:nvPr/>
        </p:nvSpPr>
        <p:spPr>
          <a:xfrm>
            <a:off x="2586213" y="41329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9BA950-6049-F76A-4A0C-CF5ED87D2763}"/>
              </a:ext>
            </a:extLst>
          </p:cNvPr>
          <p:cNvSpPr txBox="1"/>
          <p:nvPr/>
        </p:nvSpPr>
        <p:spPr>
          <a:xfrm>
            <a:off x="1881576" y="841618"/>
            <a:ext cx="71862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Module 5 – Data Aggregation &amp; Representation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Group the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Calculate required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Risk Score and Risk Category.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3B0312D2-1C2D-0FC3-47A4-8970E0D691E7}"/>
              </a:ext>
            </a:extLst>
          </p:cNvPr>
          <p:cNvSpPr/>
          <p:nvPr/>
        </p:nvSpPr>
        <p:spPr>
          <a:xfrm>
            <a:off x="4921949" y="2351924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A49019-54D3-0F1F-3651-5D4892AE3078}"/>
              </a:ext>
            </a:extLst>
          </p:cNvPr>
          <p:cNvSpPr txBox="1"/>
          <p:nvPr/>
        </p:nvSpPr>
        <p:spPr>
          <a:xfrm>
            <a:off x="2061287" y="2541421"/>
            <a:ext cx="6772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Module 6 – Data Analysis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Calculate descriptive statistics.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Analyze State/UT and district-wise anemia.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Analyze correlations.</a:t>
            </a:r>
          </a:p>
          <a:p>
            <a:pPr lvl="0"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6D0F4567-D057-4BE7-32A7-334EC2164A2C}"/>
              </a:ext>
            </a:extLst>
          </p:cNvPr>
          <p:cNvSpPr/>
          <p:nvPr/>
        </p:nvSpPr>
        <p:spPr>
          <a:xfrm>
            <a:off x="4885307" y="4033537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C43C12-4B70-F721-9E0A-DD8370D3BABC}"/>
              </a:ext>
            </a:extLst>
          </p:cNvPr>
          <p:cNvSpPr txBox="1"/>
          <p:nvPr/>
        </p:nvSpPr>
        <p:spPr>
          <a:xfrm>
            <a:off x="2083589" y="4377201"/>
            <a:ext cx="69842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Module 7 – Data Visualization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bar charts and other graphs.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heatmaps and scatter plots.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Visualize anemia patterns.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D2A13C47-9211-7F6A-3235-E7CA857CC45D}"/>
              </a:ext>
            </a:extLst>
          </p:cNvPr>
          <p:cNvSpPr/>
          <p:nvPr/>
        </p:nvSpPr>
        <p:spPr>
          <a:xfrm>
            <a:off x="4885307" y="6012358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78BCE5-A3E9-0942-2521-8A05596F86BE}"/>
              </a:ext>
            </a:extLst>
          </p:cNvPr>
          <p:cNvSpPr txBox="1"/>
          <p:nvPr/>
        </p:nvSpPr>
        <p:spPr>
          <a:xfrm>
            <a:off x="2083589" y="6214968"/>
            <a:ext cx="63921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Module 8 – Results &amp; Interpretation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Interpret the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Identify key findings.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Present conclusion and limitations.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4E60D910-6803-6B7B-7731-CC68C6CD93D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17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01B462-3A64-EBD1-10B9-70B9C48D19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180879"/>
            <a:ext cx="4080857" cy="2759005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83712A36-059A-8B66-DF63-B09AB444A56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FC6312-B5A7-C225-69FF-64CF259B8B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99" y="1119901"/>
            <a:ext cx="4080857" cy="28189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403AD0-8425-0CD0-EFC4-CC720E37C1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51" y="4240700"/>
            <a:ext cx="4080857" cy="24339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668B42-F0B2-B0A3-DD8F-82B8FDAD16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545" y="4114800"/>
            <a:ext cx="4353269" cy="308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698C4955-2C6C-07DF-AE98-823B586DED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26A68E-E8D9-8100-BCC9-B82D79A11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2" y="1059366"/>
            <a:ext cx="4822672" cy="304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8EEE9F-F4A6-03AA-B30A-72C61E290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4107366"/>
            <a:ext cx="4796368" cy="282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33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29000" y="152400"/>
            <a:ext cx="326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 Insights &amp; Analysis</a:t>
            </a:r>
          </a:p>
          <a:p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143000" y="1554480"/>
            <a:ext cx="7467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overall average anemia prevalence was </a:t>
            </a:r>
            <a:r>
              <a:rPr lang="en-US" sz="1600" b="1" dirty="0"/>
              <a:t>XX%</a:t>
            </a:r>
            <a:r>
              <a:rPr lang="en-US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state-wise analysis shows differences in anemia prevalence across States/UTs.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top 10 States/UTs with higher anemia prevalence were identified.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district-wise analysis identified the districts with the highest anemia prevalence.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correlation heatmap shows relationships between anemia prevalence and other numerical indicators.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Risk Score analysis was used to examine its relationship with women's anemia prevalence.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Risk Categories helped summarize districts according to their calculated risk levels.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319CDB26-B1FA-2BF8-62C9-507DA5EE1EB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77248" y="3938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Implementation Workflow</a:t>
            </a:r>
          </a:p>
        </p:txBody>
      </p:sp>
      <p:sp>
        <p:nvSpPr>
          <p:cNvPr id="14" name="Chevron 13"/>
          <p:cNvSpPr/>
          <p:nvPr/>
        </p:nvSpPr>
        <p:spPr>
          <a:xfrm>
            <a:off x="365760" y="196596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/>
              <a:t>1. Data Loading &amp; Reading</a:t>
            </a:r>
            <a:endParaRPr sz="13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3291839" y="196596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/>
              <a:t>2. Data Acquisition &amp; Filtering</a:t>
            </a:r>
            <a:endParaRPr sz="13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6217920" y="196596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/>
              <a:t>3. Data Extraction</a:t>
            </a:r>
            <a:endParaRPr sz="13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365760" y="370332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/>
              <a:t>4. Data Validation &amp; Cleaning</a:t>
            </a:r>
            <a:endParaRPr sz="13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3291839" y="370332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/>
              <a:t>5. Data Aggregation &amp; Representation</a:t>
            </a:r>
            <a:endParaRPr sz="13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6217920" y="370332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Times New Roman"/>
              </a:rPr>
              <a:t>6. </a:t>
            </a:r>
            <a:r>
              <a:rPr lang="en-US" sz="1400" b="1" dirty="0"/>
              <a:t>Data Analysis</a:t>
            </a:r>
            <a:endParaRPr sz="13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4572000" y="2999232"/>
            <a:ext cx="640080" cy="640080"/>
          </a:xfrm>
          <a:prstGeom prst="downArrow">
            <a:avLst/>
          </a:prstGeom>
          <a:solidFill>
            <a:srgbClr val="C25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453308B-C892-A3D8-BB9F-4AED63FAD3C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2" name="Chevron 13">
            <a:extLst>
              <a:ext uri="{FF2B5EF4-FFF2-40B4-BE49-F238E27FC236}">
                <a16:creationId xmlns:a16="http://schemas.microsoft.com/office/drawing/2014/main" id="{4B735EC4-633D-D62D-7279-1DDD8F93C6BA}"/>
              </a:ext>
            </a:extLst>
          </p:cNvPr>
          <p:cNvSpPr/>
          <p:nvPr/>
        </p:nvSpPr>
        <p:spPr>
          <a:xfrm>
            <a:off x="325150" y="544068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/>
              <a:t>7. Data Visualization</a:t>
            </a:r>
            <a:endParaRPr sz="13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Chevron 14">
            <a:extLst>
              <a:ext uri="{FF2B5EF4-FFF2-40B4-BE49-F238E27FC236}">
                <a16:creationId xmlns:a16="http://schemas.microsoft.com/office/drawing/2014/main" id="{19EEC7E5-8929-D96D-B1ED-84D5DCAB5995}"/>
              </a:ext>
            </a:extLst>
          </p:cNvPr>
          <p:cNvSpPr/>
          <p:nvPr/>
        </p:nvSpPr>
        <p:spPr>
          <a:xfrm>
            <a:off x="3230703" y="544068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/>
              <a:t>8. Results &amp; Interpretation</a:t>
            </a:r>
            <a:endParaRPr sz="13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Down Arrow 19">
            <a:extLst>
              <a:ext uri="{FF2B5EF4-FFF2-40B4-BE49-F238E27FC236}">
                <a16:creationId xmlns:a16="http://schemas.microsoft.com/office/drawing/2014/main" id="{C66FC9AF-86B9-5C62-11C4-80F5F1670653}"/>
              </a:ext>
            </a:extLst>
          </p:cNvPr>
          <p:cNvSpPr/>
          <p:nvPr/>
        </p:nvSpPr>
        <p:spPr>
          <a:xfrm>
            <a:off x="4533723" y="4727448"/>
            <a:ext cx="640080" cy="640080"/>
          </a:xfrm>
          <a:prstGeom prst="downArrow">
            <a:avLst/>
          </a:prstGeom>
          <a:solidFill>
            <a:srgbClr val="C25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8870" y="3684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181447"/>
            <a:ext cx="841248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project analyzed anemia prevalence among women aged 15–49 years using NFHS data.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Data processing techniques helped transform raw health data into useful information.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State-wise and district-wise analysis revealed differences in anemia prevalence.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Correlation analysis helped examine relationships between anemia and other numerical indicators.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Risk Score analysis provided an additional way to examine anemia-related patterns.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Visualizations made the analysis easier to understand and communicate.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 findings provide useful descriptive insights into anemia patterns in the analyzed NFHS data.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7302" y="2266230"/>
            <a:ext cx="7543800" cy="313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700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3600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7812" y="6261424"/>
            <a:ext cx="3922776" cy="31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3249</TotalTime>
  <Words>958</Words>
  <Application>Microsoft Office PowerPoint</Application>
  <PresentationFormat>Custom</PresentationFormat>
  <Paragraphs>157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25B11CS691</cp:lastModifiedBy>
  <cp:revision>110</cp:revision>
  <cp:lastPrinted>2025-10-14T18:21:49Z</cp:lastPrinted>
  <dcterms:created xsi:type="dcterms:W3CDTF">2025-10-10T08:28:06Z</dcterms:created>
  <dcterms:modified xsi:type="dcterms:W3CDTF">2026-09-29T17:22:06Z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