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427" r:id="rId3"/>
    <p:sldId id="428" r:id="rId4"/>
    <p:sldId id="429" r:id="rId5"/>
    <p:sldId id="434" r:id="rId6"/>
    <p:sldId id="432" r:id="rId7"/>
    <p:sldId id="433" r:id="rId8"/>
    <p:sldId id="29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8EB4CA-1C65-4743-AAB5-D9E469D4DBB9}">
          <p14:sldIdLst>
            <p14:sldId id="256"/>
          </p14:sldIdLst>
        </p14:section>
        <p14:section name="Untitled Section" id="{E767EBFD-7A80-4318-A534-CA1EE1EFBC8A}">
          <p14:sldIdLst>
            <p14:sldId id="427"/>
            <p14:sldId id="428"/>
            <p14:sldId id="429"/>
            <p14:sldId id="434"/>
            <p14:sldId id="432"/>
            <p14:sldId id="433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F101C1-E679-8A0F-4A8E-1B959C406192}" name="konduru jyoshana" initials="kj" userId="konduru jyoshan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50" autoAdjust="0"/>
    <p:restoredTop sz="94624" autoAdjust="0"/>
  </p:normalViewPr>
  <p:slideViewPr>
    <p:cSldViewPr>
      <p:cViewPr varScale="1">
        <p:scale>
          <a:sx n="65" d="100"/>
          <a:sy n="65" d="100"/>
        </p:scale>
        <p:origin x="528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08-08-2026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08-08-2026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08-08-2026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mldas/india-national-family-health-survey-nfhs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  <a:t>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77DE-D43D-7C43-6649-974480957BCB}"/>
              </a:ext>
            </a:extLst>
          </p:cNvPr>
          <p:cNvSpPr txBox="1"/>
          <p:nvPr/>
        </p:nvSpPr>
        <p:spPr>
          <a:xfrm>
            <a:off x="2711624" y="2060848"/>
            <a:ext cx="76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DATA ANALYSIS ESSENTIALS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2CFA1-0E49-856E-5FA1-72BBE7831974}"/>
              </a:ext>
            </a:extLst>
          </p:cNvPr>
          <p:cNvSpPr txBox="1"/>
          <p:nvPr/>
        </p:nvSpPr>
        <p:spPr>
          <a:xfrm>
            <a:off x="3431704" y="2924944"/>
            <a:ext cx="5498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1" dirty="0"/>
              <a:t>PROJECT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E1C7A-6C0F-1E70-EC9F-1897C092DFF3}"/>
              </a:ext>
            </a:extLst>
          </p:cNvPr>
          <p:cNvSpPr txBox="1"/>
          <p:nvPr/>
        </p:nvSpPr>
        <p:spPr>
          <a:xfrm>
            <a:off x="2423592" y="3629387"/>
            <a:ext cx="9405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>
                <a:solidFill>
                  <a:srgbClr val="0070C0"/>
                </a:solidFill>
              </a:rPr>
              <a:t>ANALYSIS OF ANEMIA AMONG INDIAN WOMEN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89E1D-C2AB-F603-3CA3-87DB4BF1C1AA}"/>
              </a:ext>
            </a:extLst>
          </p:cNvPr>
          <p:cNvSpPr txBox="1"/>
          <p:nvPr/>
        </p:nvSpPr>
        <p:spPr>
          <a:xfrm>
            <a:off x="5375920" y="4427820"/>
            <a:ext cx="26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SUBMITTED BY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13753-4CA3-3666-9E10-533F5C1CA7E2}"/>
              </a:ext>
            </a:extLst>
          </p:cNvPr>
          <p:cNvSpPr txBox="1"/>
          <p:nvPr/>
        </p:nvSpPr>
        <p:spPr>
          <a:xfrm>
            <a:off x="3189519" y="4950283"/>
            <a:ext cx="7200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i="1" u="sng" dirty="0"/>
              <a:t>TEAM MEMBERS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b="1" dirty="0"/>
              <a:t>1.</a:t>
            </a:r>
            <a:r>
              <a:rPr lang="en-IN" sz="2300" dirty="0"/>
              <a:t> M.N.B. Sasirekha    : 25B11CS528	   (TEAM LEAD)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b="1" dirty="0"/>
              <a:t>2.</a:t>
            </a:r>
            <a:r>
              <a:rPr lang="en-IN" sz="2300" dirty="0"/>
              <a:t> P. Naga Maheswari : 25B11CS691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b="1" dirty="0"/>
              <a:t>3</a:t>
            </a:r>
            <a:r>
              <a:rPr lang="en-IN" sz="2300" dirty="0"/>
              <a:t>. M. Pavan                  : 25B11CS535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300" b="1" dirty="0"/>
              <a:t>4.</a:t>
            </a:r>
            <a:r>
              <a:rPr lang="en-IN" sz="2300" dirty="0"/>
              <a:t> M. Yaswanth            : 25B11CS527	 </a:t>
            </a:r>
          </a:p>
          <a:p>
            <a:endParaRPr lang="en-IN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C229FF-A608-D5E0-7200-CC9EE89EE7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flipV="1">
            <a:off x="-456728" y="7749479"/>
            <a:ext cx="216025" cy="50405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F5DD7-D7CA-A9ED-4AF9-D47C3F3F5B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6960E-FF80-6453-1FC3-07EC8908971C}"/>
              </a:ext>
            </a:extLst>
          </p:cNvPr>
          <p:cNvSpPr txBox="1"/>
          <p:nvPr/>
        </p:nvSpPr>
        <p:spPr>
          <a:xfrm>
            <a:off x="1127448" y="1124744"/>
            <a:ext cx="7426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chemeClr val="accent4"/>
                </a:solidFill>
              </a:rPr>
              <a:t>Problem Statement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C91B0-5DDA-9B30-8256-B94AF720EAE9}"/>
              </a:ext>
            </a:extLst>
          </p:cNvPr>
          <p:cNvSpPr txBox="1"/>
          <p:nvPr/>
        </p:nvSpPr>
        <p:spPr>
          <a:xfrm>
            <a:off x="1127448" y="1988840"/>
            <a:ext cx="107355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800" dirty="0"/>
              <a:t>Anemia remains one of the major public health challenges affecting women and children in </a:t>
            </a:r>
            <a:r>
              <a:rPr lang="en-US" sz="2800" dirty="0" err="1"/>
              <a:t>India.The</a:t>
            </a:r>
            <a:r>
              <a:rPr lang="en-US" sz="2800" dirty="0"/>
              <a:t> prevalence of anemia varies significantly across different districts due to factors such as nutrition, education, sanitation, and healthcare </a:t>
            </a:r>
            <a:r>
              <a:rPr lang="en-US" sz="2800" dirty="0" err="1"/>
              <a:t>access.Analyzing</a:t>
            </a:r>
            <a:r>
              <a:rPr lang="en-US" sz="2800" dirty="0"/>
              <a:t> multiple health indicators separately makes it difficult to identify high-priority </a:t>
            </a:r>
            <a:r>
              <a:rPr lang="en-US" sz="2800" dirty="0" err="1"/>
              <a:t>districts.There</a:t>
            </a:r>
            <a:r>
              <a:rPr lang="en-US" sz="2800" dirty="0"/>
              <a:t> is a need for a data-driven approach to analyze district-level health indicators and identify vulnerable </a:t>
            </a:r>
            <a:r>
              <a:rPr lang="en-US" sz="2800" dirty="0" err="1"/>
              <a:t>regions.This</a:t>
            </a:r>
            <a:r>
              <a:rPr lang="en-US" sz="2800" dirty="0"/>
              <a:t> project uses the NFHS-5 dataset to explore anemia patterns and develop a composite Risk Score for prioritizing districts requiring intervention.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8166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A6593-2A17-8AD2-8677-9DBD8B1CA90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flipV="1">
            <a:off x="695401" y="7461447"/>
            <a:ext cx="288031" cy="432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EAE86-600A-5A83-72BA-98588FB8F9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8181528"/>
            <a:ext cx="1008112" cy="12961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6336D-A041-F821-887A-837462521A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383B4-CB5F-D1AB-C9E1-9090856A1D8B}"/>
              </a:ext>
            </a:extLst>
          </p:cNvPr>
          <p:cNvSpPr txBox="1"/>
          <p:nvPr/>
        </p:nvSpPr>
        <p:spPr>
          <a:xfrm>
            <a:off x="393877" y="1132982"/>
            <a:ext cx="4667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accent6"/>
                </a:solidFill>
              </a:rPr>
              <a:t>Objectives</a:t>
            </a:r>
            <a:r>
              <a:rPr lang="en-IN" sz="4800" b="1" u="sng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7936E-5339-5AC2-233A-0CFE6B108E1A}"/>
              </a:ext>
            </a:extLst>
          </p:cNvPr>
          <p:cNvSpPr txBox="1"/>
          <p:nvPr/>
        </p:nvSpPr>
        <p:spPr>
          <a:xfrm>
            <a:off x="388330" y="2118098"/>
            <a:ext cx="108202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highlight>
                  <a:srgbClr val="FFFF00"/>
                </a:highlight>
              </a:rPr>
              <a:t>"</a:t>
            </a:r>
            <a:r>
              <a:rPr lang="en-IN" sz="2800" b="1" dirty="0">
                <a:highlight>
                  <a:srgbClr val="FFFF00"/>
                </a:highlight>
              </a:rPr>
              <a:t>The objectives of our project are:</a:t>
            </a:r>
            <a:endParaRPr lang="en-IN" sz="2800" dirty="0">
              <a:highlight>
                <a:srgbClr val="FFFF00"/>
              </a:highlight>
            </a:endParaRP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To analyze district-wise anemia prevalence using the NFHS-5 dataset.</a:t>
            </a: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To perform data cleaning, preprocessing, and exploratory data analysis.</a:t>
            </a: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To identify relationships between anemia and socio-economic as well as health-related indicators.</a:t>
            </a: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To develop a custom Risk Score for identifying high-risk districts.</a:t>
            </a:r>
          </a:p>
          <a:p>
            <a:pPr marL="457200" lvl="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To build a simple machine learning model for predicting women's anemia levels.</a:t>
            </a:r>
            <a:r>
              <a:rPr lang="en-IN" sz="2800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86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75C84-FA52-DCD0-3FF0-A75E0BDAC2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FF5AD-6936-5736-59DB-AD2D1EE24293}"/>
              </a:ext>
            </a:extLst>
          </p:cNvPr>
          <p:cNvSpPr txBox="1"/>
          <p:nvPr/>
        </p:nvSpPr>
        <p:spPr>
          <a:xfrm>
            <a:off x="623392" y="871014"/>
            <a:ext cx="6433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F0"/>
                </a:solidFill>
              </a:rPr>
              <a:t>System Requirements</a:t>
            </a:r>
            <a:r>
              <a:rPr lang="en-IN" sz="3600" b="1" dirty="0"/>
              <a:t>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1482B-868B-2F9A-3078-2F7E46C9D29A}"/>
              </a:ext>
            </a:extLst>
          </p:cNvPr>
          <p:cNvSpPr txBox="1"/>
          <p:nvPr/>
        </p:nvSpPr>
        <p:spPr>
          <a:xfrm>
            <a:off x="587388" y="1585781"/>
            <a:ext cx="110172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Hardware Requirements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Processor</a:t>
            </a:r>
            <a:r>
              <a:rPr lang="en-IN" sz="2800" dirty="0"/>
              <a:t>: </a:t>
            </a:r>
            <a:r>
              <a:rPr lang="en-IN" sz="2400" dirty="0"/>
              <a:t>Intel Core i3 / AMD </a:t>
            </a:r>
            <a:r>
              <a:rPr lang="en-IN" sz="2400" dirty="0" err="1"/>
              <a:t>Ryzen</a:t>
            </a:r>
            <a:r>
              <a:rPr lang="en-IN" sz="2400" dirty="0"/>
              <a:t> 3 or higher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RAM</a:t>
            </a:r>
            <a:r>
              <a:rPr lang="en-IN" sz="2400" dirty="0"/>
              <a:t>: Minimum 4 GB (8 GB Recommended)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Storage</a:t>
            </a:r>
            <a:r>
              <a:rPr lang="en-IN" sz="2400" dirty="0"/>
              <a:t>: At least 2 GB free diskspace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Internet</a:t>
            </a:r>
            <a:r>
              <a:rPr lang="en-IN" sz="2400" dirty="0"/>
              <a:t>: Stable internet connection</a:t>
            </a:r>
          </a:p>
          <a:p>
            <a:r>
              <a:rPr lang="en-IN" sz="3200" b="1" u="sng" dirty="0"/>
              <a:t>Software Requirements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Operating System</a:t>
            </a:r>
            <a:r>
              <a:rPr lang="en-IN" sz="2400" dirty="0"/>
              <a:t>: Windows 10/11, macOS, or Linux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Web Browser</a:t>
            </a:r>
            <a:r>
              <a:rPr lang="en-IN" sz="2400" dirty="0"/>
              <a:t>: Google Chrome / Microsoft Edge / Mozilla Firefox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Platform</a:t>
            </a:r>
            <a:r>
              <a:rPr lang="en-IN" sz="2400" dirty="0"/>
              <a:t>: Google </a:t>
            </a:r>
            <a:r>
              <a:rPr lang="en-IN" sz="2400" dirty="0" err="1"/>
              <a:t>Colab</a:t>
            </a:r>
            <a:endParaRPr lang="en-IN" sz="24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400" b="1" i="1" dirty="0"/>
              <a:t>Google Account</a:t>
            </a:r>
            <a:r>
              <a:rPr lang="en-IN" sz="2400" dirty="0"/>
              <a:t>: Required to access Google </a:t>
            </a:r>
            <a:r>
              <a:rPr lang="en-IN" sz="2400" dirty="0" err="1"/>
              <a:t>Colab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732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9F4981-8233-4746-26D9-2E9435976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18" y="1730642"/>
            <a:ext cx="10802415" cy="4808270"/>
          </a:xfrm>
        </p:spPr>
        <p:txBody>
          <a:bodyPr>
            <a:normAutofit fontScale="77500" lnSpcReduction="20000"/>
          </a:bodyPr>
          <a:lstStyle/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</a:t>
            </a:r>
          </a:p>
          <a:p>
            <a:r>
              <a:rPr lang="en-IN" sz="3200" dirty="0"/>
              <a:t>Python</a:t>
            </a:r>
          </a:p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environment</a:t>
            </a:r>
          </a:p>
          <a:p>
            <a:r>
              <a:rPr lang="en-IN" sz="3200" dirty="0"/>
              <a:t>Google collab</a:t>
            </a:r>
          </a:p>
          <a:p>
            <a:r>
              <a:rPr lang="en-IN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Libraries`</a:t>
            </a:r>
          </a:p>
          <a:p>
            <a:r>
              <a:rPr lang="en-IN" sz="3200" dirty="0"/>
              <a:t>Pandas</a:t>
            </a:r>
          </a:p>
          <a:p>
            <a:r>
              <a:rPr lang="en-IN" sz="3200" dirty="0" err="1"/>
              <a:t>Numpy</a:t>
            </a:r>
            <a:endParaRPr lang="en-IN" sz="3200" dirty="0"/>
          </a:p>
          <a:p>
            <a:r>
              <a:rPr lang="en-IN" sz="3200" dirty="0"/>
              <a:t>Matplotlib</a:t>
            </a:r>
          </a:p>
          <a:p>
            <a:r>
              <a:rPr lang="en-IN" sz="3200" dirty="0"/>
              <a:t>Seaborn</a:t>
            </a:r>
          </a:p>
          <a:p>
            <a:r>
              <a:rPr lang="en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LINK</a:t>
            </a:r>
          </a:p>
          <a:p>
            <a:r>
              <a:rPr lang="en-IN" sz="3200" dirty="0">
                <a:hlinkClick r:id="rId2"/>
              </a:rPr>
              <a:t>https://www.kaggle.com/datasets/kmldas/india-national-family-health-survey-nfhs?utm_source=chatgpt.com</a:t>
            </a:r>
            <a:endParaRPr lang="en-IN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90ED1-0C6E-BCB2-95CF-DB7D8A45D2F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56728" y="8181528"/>
            <a:ext cx="16561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68118-B181-B588-92C3-3984345840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135560" y="8685584"/>
            <a:ext cx="6912768" cy="365125"/>
          </a:xfrm>
        </p:spPr>
        <p:txBody>
          <a:bodyPr/>
          <a:lstStyle/>
          <a:p>
            <a:r>
              <a:rPr lang="en-US" dirty="0"/>
              <a:t>Cour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7B927-01AE-A80D-4ED5-8520966976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13B07-B25B-CD53-64F0-EC8524D0BE5F}"/>
              </a:ext>
            </a:extLst>
          </p:cNvPr>
          <p:cNvSpPr txBox="1"/>
          <p:nvPr/>
        </p:nvSpPr>
        <p:spPr>
          <a:xfrm>
            <a:off x="718818" y="1113587"/>
            <a:ext cx="60894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Tech stack :</a:t>
            </a:r>
          </a:p>
        </p:txBody>
      </p:sp>
    </p:spTree>
    <p:extLst>
      <p:ext uri="{BB962C8B-B14F-4D97-AF65-F5344CB8AC3E}">
        <p14:creationId xmlns:p14="http://schemas.microsoft.com/office/powerpoint/2010/main" val="297099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7034F3-BAFB-3F03-8B23-F80DFCA0397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1" y="7605464"/>
            <a:ext cx="576064" cy="21602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14C15-D28F-79D7-4E9E-24487402CA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7893496"/>
            <a:ext cx="5760640" cy="360040"/>
          </a:xfrm>
        </p:spPr>
        <p:txBody>
          <a:bodyPr/>
          <a:lstStyle/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CA1A4-C9FA-E534-A46A-30393566C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910BC-AC33-D2FA-F9D7-1313B995845E}"/>
              </a:ext>
            </a:extLst>
          </p:cNvPr>
          <p:cNvSpPr txBox="1"/>
          <p:nvPr/>
        </p:nvSpPr>
        <p:spPr>
          <a:xfrm>
            <a:off x="911424" y="995165"/>
            <a:ext cx="7100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7030A0"/>
                </a:solidFill>
              </a:rPr>
              <a:t>Future Enhancements &amp; Scope </a:t>
            </a:r>
            <a:r>
              <a:rPr lang="en-IN" sz="3200" b="1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5A26B-B54D-332D-AA0B-9BE05BF38090}"/>
              </a:ext>
            </a:extLst>
          </p:cNvPr>
          <p:cNvSpPr txBox="1"/>
          <p:nvPr/>
        </p:nvSpPr>
        <p:spPr>
          <a:xfrm>
            <a:off x="983432" y="1579940"/>
            <a:ext cx="89289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Develop an interactive dashboard using </a:t>
            </a:r>
            <a:r>
              <a:rPr lang="en-IN" sz="2800" dirty="0" err="1"/>
              <a:t>Streamlit</a:t>
            </a:r>
            <a:r>
              <a:rPr lang="en-IN" sz="2800" dirty="0"/>
              <a:t> or Power BI for better data visualization.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Integrate district-level GIS maps for geographical analysis and regional insights.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Compare NFHS-4 and NFHS-5 data to study changes over time.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Improve prediction accuracy using advanced machine learning models like Random Forest and </a:t>
            </a:r>
            <a:r>
              <a:rPr lang="en-IN" sz="2800" dirty="0" err="1"/>
              <a:t>XGBoost</a:t>
            </a:r>
            <a:r>
              <a:rPr lang="en-IN" sz="28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Deploy the project as a web application to support healthcare officials and policymakers.</a:t>
            </a:r>
          </a:p>
        </p:txBody>
      </p:sp>
    </p:spTree>
    <p:extLst>
      <p:ext uri="{BB962C8B-B14F-4D97-AF65-F5344CB8AC3E}">
        <p14:creationId xmlns:p14="http://schemas.microsoft.com/office/powerpoint/2010/main" val="402341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27EB7-B3C7-6D4D-7C41-CCCB044E17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V="1">
            <a:off x="2567608" y="7389440"/>
            <a:ext cx="6912768" cy="5760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BB70B-0A5A-BD0E-65D9-D46FA255F4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FB652-B75D-EE74-3C9C-AA9E0C1AC5DE}"/>
              </a:ext>
            </a:extLst>
          </p:cNvPr>
          <p:cNvSpPr txBox="1"/>
          <p:nvPr/>
        </p:nvSpPr>
        <p:spPr>
          <a:xfrm>
            <a:off x="1127449" y="980728"/>
            <a:ext cx="3642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2"/>
                </a:solidFill>
              </a:rPr>
              <a:t>Conclusion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C3ABF-6F3E-CA27-51EB-D877BABFB3BB}"/>
              </a:ext>
            </a:extLst>
          </p:cNvPr>
          <p:cNvSpPr txBox="1"/>
          <p:nvPr/>
        </p:nvSpPr>
        <p:spPr>
          <a:xfrm>
            <a:off x="1127449" y="1916832"/>
            <a:ext cx="91450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/>
              <a:t>Successfully </a:t>
            </a:r>
            <a:r>
              <a:rPr lang="en-IN" sz="2800" dirty="0" err="1"/>
              <a:t>analyzed</a:t>
            </a:r>
            <a:r>
              <a:rPr lang="en-IN" sz="2800" dirty="0"/>
              <a:t> district-wise </a:t>
            </a:r>
            <a:r>
              <a:rPr lang="en-IN" sz="2800" dirty="0" err="1"/>
              <a:t>anemia</a:t>
            </a:r>
            <a:r>
              <a:rPr lang="en-IN" sz="2800" dirty="0"/>
              <a:t> prevalence using the NFHS-5 dataset.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/>
              <a:t>Performed data cleaning, preprocessing, visualization, and exploratory data analysis.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/>
              <a:t>Identified important factors associated with </a:t>
            </a:r>
            <a:r>
              <a:rPr lang="en-IN" sz="2800" dirty="0" err="1"/>
              <a:t>anemia</a:t>
            </a:r>
            <a:r>
              <a:rPr lang="en-IN" sz="2800" dirty="0"/>
              <a:t>, including literacy, BMI, sanitation, and iron-folic acid consumption.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</a:pPr>
            <a:r>
              <a:rPr lang="en-IN" sz="2800" dirty="0"/>
              <a:t>Developed a custom Risk Score to prioritize vulnerable districts.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45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-49931" y="548680"/>
            <a:ext cx="12241360" cy="47525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125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flipH="1" flipV="1">
            <a:off x="767408" y="7893495"/>
            <a:ext cx="70792" cy="36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flipV="1">
            <a:off x="3431704" y="7965503"/>
            <a:ext cx="5185792" cy="288031"/>
          </a:xfrm>
        </p:spPr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6992</TotalTime>
  <Words>489</Words>
  <Application>Microsoft Office PowerPoint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Maiandra GD</vt:lpstr>
      <vt:lpstr>Tw Cen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yaswanth maddali</cp:lastModifiedBy>
  <cp:revision>721</cp:revision>
  <cp:lastPrinted>2023-06-09T04:58:36Z</cp:lastPrinted>
  <dcterms:created xsi:type="dcterms:W3CDTF">2019-12-14T03:50:52Z</dcterms:created>
  <dcterms:modified xsi:type="dcterms:W3CDTF">2026-08-08T04:38:07Z</dcterms:modified>
</cp:coreProperties>
</file>